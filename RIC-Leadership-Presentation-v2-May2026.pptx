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Weekly Sessions by Type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Cumulative Sessions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Total</c:v>
                </c:pt>
              </c:strCache>
            </c:strRef>
          </c:tx>
          <c:spPr>
            <a:ln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pPr>
            <a:solidFill>
              <a:srgbClr val="3223BD"/>
            </a:solidFill>
            <a:ln>
              <a:noFill/>
            </a:ln>
          </c:spP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  <c:spPr>
            <a:solidFill>
              <a:srgbClr val="D9DCF8"/>
            </a:solidFill>
            <a:ln>
              <a:solidFill>
                <a:srgbClr val="3223BD"/>
              </a:solidFill>
            </a:ln>
          </c:spPr>
        </c:ser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Cumulative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pPr>
            <a:ln w="25400">
              <a:solidFill>
                <a:srgbClr val="3223BD"/>
              </a:solidFill>
            </a:ln>
          </c:spPr>
          <c:marker>
            <c:symbol val="circle"/>
            <c:size val="6"/>
            <c:spPr>
              <a:solidFill>
                <a:srgbClr val="3223BD"/>
              </a:solidFill>
            </c:spPr>
          </c:marker>
        </c:ser>
        <c:axId val="-2068027336"/>
        <c:axId val="9999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valAx>
        <c:axId val="9999"/>
        <c:scaling>
          <c:orientation val="minMax"/>
          <c:max val="80"/>
        </c:scaling>
        <c:delete val="0"/>
        <c:axPos val="r"/>
        <c:numFmt formatCode="0" sourceLinked="0"/>
        <c:majorTickMark val="out"/>
        <c:minorTickMark val="none"/>
        <c:tickLblPos val="nextTo"/>
        <c:crossAx val="-2068027336"/>
        <c:crosses val="max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Sessions</c:v>
                </c:pt>
              </c:strCache>
            </c:strRef>
          </c:tx>
          <c:spPr>
            <a:solidFill>
              <a:srgbClr val="3223BD"/>
            </a:solidFill>
            <a:ln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Sessions</c:v>
                </c:pt>
              </c:strCache>
            </c:strRef>
          </c:tx>
          <c:spPr>
            <a:solidFill>
              <a:srgbClr val="3223BD"/>
            </a:solidFill>
            <a:ln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Sessions</c:v>
                </c:pt>
              </c:strCache>
            </c:strRef>
          </c:tx>
          <c:spPr>
            <a:solidFill>
              <a:srgbClr val="3223BD"/>
            </a:solidFill>
            <a:ln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BD/Growth Sessions</c:v>
                </c:pt>
              </c:strCache>
            </c:strRef>
          </c:tx>
          <c:spPr>
            <a:solidFill>
              <a:srgbClr val="3223BD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2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Program Sessions</c:v>
                </c:pt>
              </c:strCache>
            </c:strRef>
          </c:tx>
          <c:spPr>
            <a:solidFill>
              <a:srgbClr val="D9DCF8"/>
            </a:solidFill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7</c:v>
                </c:pt>
                <c:pt idx="5">
                  <c:v>3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7</c:v>
                </c:pt>
                <c:pt idx="1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Sessions</c:v>
                </c:pt>
              </c:strCache>
            </c:strRef>
          </c:tx>
          <c:spPr>
            <a:solidFill>
              <a:srgbClr val="3223BD"/>
            </a:solidFill>
            <a:ln>
              <a:solidFill>
                <a:srgbClr val="3223BD"/>
              </a:solidFill>
            </a:ln>
          </c:spPr>
          <c:cat>
            <c:strRef>
              <c:f>Sheet1!$A$2:$A$13</c:f>
              <c:strCache>
                <c:ptCount val="12"/>
                <c:pt idx="0">
                  <c:v>2/23</c:v>
                </c:pt>
                <c:pt idx="1">
                  <c:v>3/2</c:v>
                </c:pt>
                <c:pt idx="2">
                  <c:v>3/9</c:v>
                </c:pt>
                <c:pt idx="3">
                  <c:v>3/16</c:v>
                </c:pt>
                <c:pt idx="4">
                  <c:v>3/23</c:v>
                </c:pt>
                <c:pt idx="5">
                  <c:v>3/30</c:v>
                </c:pt>
                <c:pt idx="6">
                  <c:v>4/6</c:v>
                </c:pt>
                <c:pt idx="7">
                  <c:v>4/13</c:v>
                </c:pt>
                <c:pt idx="8">
                  <c:v>4/20</c:v>
                </c:pt>
                <c:pt idx="9">
                  <c:v>4/27</c:v>
                </c:pt>
                <c:pt idx="10">
                  <c:v>5/4</c:v>
                </c:pt>
                <c:pt idx="11">
                  <c:v>5/11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29</c:v>
                </c:pt>
                <c:pt idx="5">
                  <c:v>34</c:v>
                </c:pt>
                <c:pt idx="6">
                  <c:v>44</c:v>
                </c:pt>
                <c:pt idx="7">
                  <c:v>50</c:v>
                </c:pt>
                <c:pt idx="8">
                  <c:v>57</c:v>
                </c:pt>
                <c:pt idx="9">
                  <c:v>59</c:v>
                </c:pt>
                <c:pt idx="10">
                  <c:v>68</c:v>
                </c:pt>
                <c:pt idx="11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Relationship Id="rId9" Type="http://schemas.openxmlformats.org/officeDocument/2006/relationships/chart" Target="../charts/chart8.xml"/><Relationship Id="rId10" Type="http://schemas.openxmlformats.org/officeDocument/2006/relationships/chart" Target="../charts/chart9.xml"/><Relationship Id="rId11" Type="http://schemas.openxmlformats.org/officeDocument/2006/relationships/chart" Target="../charts/chart10.xml"/><Relationship Id="rId12" Type="http://schemas.openxmlformats.org/officeDocument/2006/relationships/chart" Target="../charts/char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23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Rapid Innovation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9DCF8"/>
                </a:solidFill>
                <a:latin typeface="Calibri"/>
              </a:rPr>
              <a:t>Leadership Briefing |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Accelerating AI-Enabled Innovation Across Programs and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eSimplicity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RIC —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Since Launch — February through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566160" cy="14630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Initiatives Launched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097280"/>
            <a:ext cx="3566160" cy="146304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223BD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Initiatives 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097280"/>
            <a:ext cx="3566160" cy="14630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2618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1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Active Initiatives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3566160" cy="146304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8163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223BD"/>
                </a:solidFill>
                <a:latin typeface="Calibri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Requests Submitted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651760"/>
            <a:ext cx="3566160" cy="14630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28163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Artifacts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651760"/>
            <a:ext cx="3566160" cy="146304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1635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223BD"/>
                </a:solidFill>
                <a:latin typeface="Calibri"/>
              </a:rPr>
              <a:t>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4290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Consultation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3566160" cy="14630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37083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4.7 / 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83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Avg CSAT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206240"/>
            <a:ext cx="3566160" cy="146304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37083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223BD"/>
                </a:solidFill>
                <a:latin typeface="Calibri"/>
              </a:rPr>
              <a:t>~3.5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983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Avg Idea-to-Delivery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206240"/>
            <a:ext cx="3566160" cy="14630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370831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983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Reusable AI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Engagement Activity — Weekly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Feb 23 – May 15, 2026 | 74 total sessions | 19 artifacts delivered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11612880" cy="27432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7947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464"/>
                </a:solidFill>
                <a:latin typeface="Calibri"/>
              </a:rPr>
              <a:t>▲ Weekly Sessions by Type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931920"/>
          <a:ext cx="11612880" cy="265176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Programs &amp; Agencies 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Health · Defense &amp; National Security · Civilian verticals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Programs 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T-MSIS (CMS)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QDAS (CMS)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NMSC — National Defense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NHLBI (NIH)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LPDS (Navy / Marine Corps)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IDR — Integrated Data Repository (CMS)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CQP (CMS)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SBA OIG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● Health BU / PMR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Agencies &amp;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Centers for Medicare &amp; Medicaid Services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Defense Information Systems Agency (DISA)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Natl Marine &amp; Space Command (NMSC)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Natl Heart, Lung &amp; Blood Institute (NHLBI)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Small Business Administration OIG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State of New Mexico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Navy Marine Corps (LPDS)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Army (Aberdeen Proving Ground)</a:t>
            </a:r>
          </a:p>
          <a:p>
            <a:pPr algn="l"/>
            <a:r>
              <a:rPr sz="1200" b="0">
                <a:solidFill>
                  <a:srgbClr val="404040"/>
                </a:solidFill>
                <a:latin typeface="Calibri"/>
              </a:rPr>
              <a:t>★ eSimplicity Growth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578815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23BD"/>
                </a:solidFill>
                <a:latin typeface="Calibri"/>
              </a:rPr>
              <a:t>9 programs supported  |  8+ agencies engaged  |  Health · Defense · Civilian · Corporate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Speed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Average idea-to-prototype cycle time: ~25 days (~3.5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468880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Initiative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Nextgen Sim - Prima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Mar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&lt;1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LPDS AI Tools Consultation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Mar 11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2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CMS MESH AI Write-up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Apr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Aberdeen APBI Demo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Apr 10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8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DBX Apps POC - Use Case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May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14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QDAS DBX Apps Research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Mar 19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15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CMS MESH Salesforce/M365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Apr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15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SBA OIG AI Innovation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Apr 24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30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DISA AES RFP AI Assistance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Mar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223BD"/>
                          </a:solidFill>
                          <a:latin typeface="Calibri"/>
                        </a:rPr>
                        <a:t>40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DBX Apps POC - Use Case 3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May 1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223BD"/>
                          </a:solidFill>
                          <a:latin typeface="Calibri"/>
                        </a:rPr>
                        <a:t>43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T-MSIS AI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223BD"/>
                          </a:solidFill>
                          <a:latin typeface="Calibri"/>
                        </a:rPr>
                        <a:t>45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New Mexico RFP Demo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May 12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223BD"/>
                          </a:solidFill>
                          <a:latin typeface="Calibri"/>
                        </a:rPr>
                        <a:t>53 days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BD/Growth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NMSC Spectrum Analyst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Apr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223BD"/>
                          </a:solidFill>
                          <a:latin typeface="Calibri"/>
                        </a:rPr>
                        <a:t>55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69696"/>
                </a:solidFill>
                <a:latin typeface="Calibri"/>
              </a:rPr>
              <a:t>Shorter = consultations &amp; proposals. Longer = full POC/prototype builds.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Program Innovation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AI delivering measurable impact on active federal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85216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852160" cy="2286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990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T-MSIS — 100%+ Productivity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5669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The RIC built an agentic workflow to automate test data generation for
thousands of data validation rules — a process previously done manually.
● Delivered in days, not weeks
● Adopted and stabilized with the T-MSIS team
● Demonstrated agentic AI on a real federal health program
● Directly supports upcoming T-MSIS recompete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416552"/>
            <a:ext cx="5669280" cy="105156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480560"/>
            <a:ext cx="55778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>"The productivity improvement is at least 100%+! You are truly amazing partners."
  — Raymond Ling, T-MSIS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760720" cy="2286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3990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NHLBI — Agent Ranker for App Modernization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810512"/>
            <a:ext cx="55778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NHLBI needed to prioritize a portfolio of applications for modernization.
The RIC built an Agent Ranker that analyzes profiles and produces
AI-driven recommendations with justification.
● Replaces manual evaluation process
● Supports ITAC decision-making at NHLBI
● Reusable framework applicable across programs
● Ranking criteria and evaluation metrics in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4416552"/>
            <a:ext cx="5577840" cy="105156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480560"/>
            <a:ext cx="5486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6080760"/>
            <a:ext cx="5577840" cy="347472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6099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23BD"/>
                </a:solidFill>
                <a:latin typeface="Calibri"/>
              </a:rPr>
              <a:t>Program: NHLBI  |  Status: In Progress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BD &amp; Proposal Support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11 growth-supporting initiatives — already exceeding the annual goal of 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DISA AES — Shaped the Evaluation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Built an interactive antenna modeling prototype for the DISA AES proposal. DISA then explicitly added innovation as an RFP evaluation factor — making our prototype a direct scoring differentiator.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16352"/>
            <a:ext cx="5577840" cy="658368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8620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"Impact increased when customer explicitly included innovation as an eval factor." — Summer Watterson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3258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Army Aberdeen — First Army Impression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4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Supported a live 2-hour demo at Aberdeen Proving Ground's Meet the Primes event — eSimplicity's first Army engagement at this venue. Keith McFarland traveled on-site to deliver.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816352"/>
            <a:ext cx="5577840" cy="658368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8620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"This will play a key role enabling new conversations with the Army." — Don Chipley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657600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65760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86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CMS MESH — Two Gaps Closed Under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25196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Two proposal-critical gaps closed: AI narrative written in 3 days, Salesforce/M365 integration in 15 days. Both delivered under proposal deadline pressure.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76672"/>
            <a:ext cx="5577840" cy="658368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4223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"Quickly building POCs that allow us to claim experience where gaps exist." — Rajesh Pandian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57600"/>
            <a:ext cx="57607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65760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886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New Mexico — State Government Downselect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25196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Built a full AI document management demo for NM's water rights system — OCR, human-in-the-loop validation, structured data. First state government engagement.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5376672"/>
            <a:ext cx="5577840" cy="658368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4223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"It felt like a natural part of the deal lifecycle." — Ian Lowrie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QDAS — Sustained Databricks Innovation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3 initiatives · 4 POCs · Directly improving QDAS recompete pWIN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25603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25603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276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DBX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Evaluated Databricks LLM/AI capabilities. Delivered whitepaper on chatbot feasibility for QDAS users.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0916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371600"/>
            <a:ext cx="25603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1371600"/>
            <a:ext cx="25603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276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Use Cases 1 &amp;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0116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DBX Apps Initial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77440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Proved initial Databricks Apps capability. Evaluated native AI interfaces for non-technical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70916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371600"/>
            <a:ext cx="25603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1371600"/>
            <a:ext cx="25603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6276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RIC-164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116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Use Case 3 -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377440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Ran CCSQ Portal in Databricks Apps. Validated microservices + Lakebase for persistent storage.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0916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371600"/>
            <a:ext cx="25603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1371600"/>
            <a:ext cx="25603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62763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223BD"/>
                </a:solidFill>
                <a:latin typeface="Calibri"/>
              </a:rPr>
              <a:t>RIC-329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0116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Use Case 4 -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377440"/>
            <a:ext cx="237743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Proved Auto App Deployment for non-technical data consumers. Extends platform to wider audience.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70916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926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223BD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926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223BD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926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223BD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5349240"/>
            <a:ext cx="11795760" cy="4572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5376672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Databricks selected as RIC's preferred agentic platform  |  eSimplicity depth demonstrated across 4 proof points  |  Directly improving QDAS recompete pWIN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Customer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Average CSAT: 4.7 / 5.0 across 10 scored 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223BD"/>
                </a:solidFill>
                <a:latin typeface="Calibri"/>
              </a:rPr>
              <a:t>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223BD"/>
                </a:solidFill>
                <a:latin typeface="Calibri"/>
              </a:rPr>
              <a:t>out of 5.0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78"/>
                </a:solidFill>
                <a:latin typeface="Calibri"/>
              </a:rPr>
              <a:t>10 responses scored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32004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 more responses pending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749039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82880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Stakeholder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3223B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T-MSIS AI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Raymond 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DISA AES RFP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Summer Watterson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DBX Apps UC 1&amp;2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John Fukuda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4 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NMSC NTIA Redbook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Jon Lanenga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CMS MESH 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Alisha Hutson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CMS MESH AI Write-Up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Rajesh Pandian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Army APBI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Don Chipley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DBX Apps UC 3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Alisha Hutson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4 ★★★★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DBX Apps UC 1&amp;2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Crissy Paleczka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5 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New Mexico RFP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Ian Lowrie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4 ★★★★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D9D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The RIC Platform — Prima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320 reusable AI assets at delivery.alvisprima.com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18288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657600" cy="1828800"/>
          </a:xfrm>
          <a:prstGeom prst="rect">
            <a:avLst/>
          </a:prstGeom>
          <a:solidFill>
            <a:srgbClr val="D9DCF8"/>
          </a:solidFill>
          <a:ln w="1905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223BD"/>
                </a:solidFill>
                <a:latin typeface="Calibri"/>
              </a:rPr>
              <a:t>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04040"/>
                </a:solidFill>
                <a:latin typeface="Calibri"/>
              </a:rPr>
              <a:t>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657600" cy="182880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Plugins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38328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Calibri"/>
              </a:rPr>
              <a:t>Prima Delivery is eSimplicity's open AI asset library — production-ready agents, modular skills, and workflow plugins deployable without starting from scratch.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657600" cy="1371600"/>
          </a:xfrm>
          <a:prstGeom prst="rect">
            <a:avLst/>
          </a:prstGeom>
          <a:solidFill>
            <a:srgbClr val="D9DCF8"/>
          </a:solidFill>
          <a:ln w="127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● Compatible with OpenCode, Claude Code, Copilot, Cursor, Windsurf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206240"/>
            <a:ext cx="3657600" cy="1371600"/>
          </a:xfrm>
          <a:prstGeom prst="rect">
            <a:avLst/>
          </a:prstGeom>
          <a:solidFill>
            <a:srgbClr val="D9DCF8"/>
          </a:solidFill>
          <a:ln w="127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297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● Organized by domain: Dev, Security, Data &amp; AI, Infrastructure,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206240"/>
            <a:ext cx="3657600" cy="1371600"/>
          </a:xfrm>
          <a:prstGeom prst="rect">
            <a:avLst/>
          </a:prstGeom>
          <a:solidFill>
            <a:srgbClr val="D9DCF8"/>
          </a:solidFill>
          <a:ln w="127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Calibri"/>
              </a:rPr>
              <a:t>● Tested, versioned, and ready to deploy across programs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715000"/>
            <a:ext cx="12188952" cy="4114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573328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4x the target of 75 assets  |  Available to all programs and BD teams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Looking Ahead — Active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Key initiatives in flight for H2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7607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SHINE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Chat-based AI interface for enterprise knowledge discovery. MVP in development — CI/CD established, BDD tests complete. 6-milestone roadmap targeting Q3 2026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08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23BD"/>
                </a:solidFill>
                <a:latin typeface="Calibri"/>
              </a:rPr>
              <a:t>● Milestone 1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7607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Apex Agent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73736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Packaging and deploying proposal agents to T-MSIS and CIO Growth. Agents in QA for deployment. Quick Start Guide, GitHub repo, and security config in development.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108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● Deployment Underway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657600"/>
            <a:ext cx="57607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65760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9136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IDR Research POC / White Paper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9768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Early capture effort for CMS IDR — impact score 10. White paper and POC demonstrating Snowflake/Databricks integration for IDR modernization. In leadership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69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Calibri"/>
              </a:rPr>
              <a:t>● In Review — Blocker 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76072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22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760720" cy="18288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9136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23BD"/>
                </a:solidFill>
                <a:latin typeface="Calibri"/>
              </a:rPr>
              <a:t>Growth Opportunities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297680"/>
            <a:ext cx="5577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Agentic workflow for the Growth team to qualify 20-100 daily BD postings automatically. Assigns fit ratings, streamlines opportunity assessment. Sponsor: Carrie Yang-Johnson.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669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● 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Partner Program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AWS · Databricks · Salesforce · Snowflake |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760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5760720" cy="1828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Amazon Web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91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Select → Premier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93391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● Active Select partner — working toward Premier
● Requires: 20 accredited, 25 tech certs, 3 competencies, 50 opps
● TPP driving completions: 100% on Associate, Pro &amp; Specialty ✓
● Next: Partner Business Plan &amp; Executive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760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760720" cy="18288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691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Bronze → 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93391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● Active Bronze partner — targeting Gold tier
● Requires: Silver baseline + DE/ML certs + Brickbuilder specialization
● TPP: 89% Associate &amp; Pro certs | 23% Sales Badges
● Partnership Day: July 8, 2026 at eSimplicity HQ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657600"/>
            <a:ext cx="5760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657600"/>
            <a:ext cx="5760720" cy="18288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9136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Salesforce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51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Select → Summit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553712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● Active Select partner — long-term Summit target
● Requires: Admin, Platform Dev, Consultant certs + outcomes
● CMS MESH Salesforce/M365 integration delivered (May 2026)
● Cert pursuit and co-sell engagement underway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76072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760720" cy="1828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9136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23BD"/>
                </a:solidFill>
                <a:latin typeface="Calibri"/>
              </a:rPr>
              <a:t>Snowflake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251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  <a:latin typeface="Calibri"/>
              </a:rPr>
              <a:t>Registered → 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553712"/>
            <a:ext cx="5577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● Registered partner — building toward Select tier
● Requires: Partner onboarding, SnowPro Core certs, engagement
● IDR white paper (in review) leverages Snowflake capabilities
● Future TPP program under 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Technical Partner Program (TPP) — Incentives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DCF8"/>
                </a:solidFill>
                <a:latin typeface="Calibri"/>
              </a:rPr>
              <a:t>Time-boxed certification initiative · Directly counts toward partner tier advancement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969696"/>
                </a:solidFill>
                <a:latin typeface="Calibri"/>
              </a:rPr>
              <a:t>Rapid Innovation Center | eSimplicity | May 2026 |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669280" cy="5303520"/>
          </a:xfrm>
          <a:prstGeom prst="rect">
            <a:avLst/>
          </a:prstGeom>
          <a:solidFill>
            <a:srgbClr val="D9D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What is TPP?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Calibri"/>
              </a:rPr>
              <a:t>The TPP incentivizes eSimplicity employees to earn certifications that advance our partner tiers — unlocking co-sell opportunities, preferred pricing, and competitive differentiation.
✓  Time-boxed with clear milestones
✓  Sign-ups are complete for AWS &amp; DBX
✓  Employees actively pursuing certs
✓  Started with Databricks and AWS
✓  Kyle meeting with partners to align
✓  Databricks Day: July 8 @ eSimplicity HQ
✓  Future expansion: Snowflake, Salesforce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23BD"/>
                </a:solidFill>
                <a:latin typeface="Calibri"/>
              </a:rPr>
              <a:t>Cert Completion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AWS — Associate, Pro &amp; Specialty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60020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29968"/>
            <a:ext cx="5669280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029968"/>
            <a:ext cx="566928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 SIGN-UPS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517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Databricks — Associate &amp;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6060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223BD"/>
                </a:solidFill>
                <a:latin typeface="Calibri"/>
              </a:rPr>
              <a:t>89%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035808"/>
            <a:ext cx="5669280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035808"/>
            <a:ext cx="5045659" cy="201168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23BD"/>
                </a:solidFill>
                <a:latin typeface="Calibri"/>
              </a:rPr>
              <a:t>✓ SIGN-UPS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657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Databricks — Sales Badges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61188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  <a:latin typeface="Calibri"/>
              </a:rPr>
              <a:t>23%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041648"/>
            <a:ext cx="5669280" cy="2011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4041648"/>
            <a:ext cx="130393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● IN PROGRESS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663440"/>
            <a:ext cx="5669280" cy="1188720"/>
          </a:xfrm>
          <a:prstGeom prst="rect">
            <a:avLst/>
          </a:prstGeom>
          <a:solidFill>
            <a:srgbClr val="322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73659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Databricks Partnership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1023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CF8"/>
                </a:solidFill>
                <a:latin typeface="Calibri"/>
              </a:rPr>
              <a:t>July 8, 2026  ·  eSimplicity HQ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4223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Build relationships · Discuss pipelines · Advance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989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69696"/>
                </a:solidFill>
                <a:latin typeface="Calibri"/>
              </a:rPr>
              <a:t>Future TPP: Snowflake and Salesforce programs under consideration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23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RIC is delivering.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9DCF8"/>
                </a:solidFill>
                <a:latin typeface="Calibri"/>
              </a:rPr>
              <a:t>Fast. Measurable. Mission-Aligned.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35 initiatives  ·  13 completed  ·  4.7 CSAT  ·  3.5 week avg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217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eSimplicity Rapid Innovation Center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