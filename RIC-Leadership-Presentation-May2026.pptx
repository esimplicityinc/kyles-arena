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467F"/>
                </a:solidFill>
              </a:rPr>
              <a:t>Weekly Consultation Sessions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</c:v>
                </c:pt>
              </c:strCache>
            </c:strRef>
          </c:tx>
          <c:spPr>
            <a:solidFill>
              <a:srgbClr val="00AEEF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</c:v>
                </c:pt>
              </c:strCache>
            </c:strRef>
          </c:tx>
          <c:spPr>
            <a:solidFill>
              <a:srgbClr val="00467F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467F"/>
                </a:solidFill>
              </a:rPr>
              <a:t>Cumulative Consultation Sessions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00467F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  <c:marker>
            <c:symbol val="circle"/>
            <c:size val="5"/>
            <c:spPr>
              <a:solidFill>
                <a:srgbClr val="00467F"/>
              </a:solidFill>
              <a:ln>
                <a:solidFill>
                  <a:srgbClr val="00467F"/>
                </a:solidFill>
              </a:ln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223BD"/>
                </a:solidFill>
                <a:latin typeface="Calibri"/>
              </a:rPr>
              <a:t>Weekly Consultation Sessions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pPr>
            <a:solidFill>
              <a:srgbClr val="3223BD"/>
            </a:solidFill>
            <a:ln>
              <a:noFill/>
            </a:ln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  <c:spPr>
            <a:solidFill>
              <a:srgbClr val="D9DCF8"/>
            </a:solidFill>
            <a:ln w="9525">
              <a:solidFill>
                <a:srgbClr val="404040"/>
              </a:solidFill>
            </a:ln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000" b="0">
                <a:latin typeface="Calibri"/>
                <a:solidFill>
                  <a:srgbClr val="404040"/>
                </a:solidFill>
              </a:defRPr>
            </a:pPr>
          </a:p>
        </c:txPr>
      </c:catAx>
      <c:valAx>
        <c:axId val="-2113994440"/>
        <c:scaling>
          <c:min val="0"/>
          <c:max val="12"/>
        </c:scaling>
        <c:delete val="0"/>
        <c:axPos val="l"/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pPr>
              <a:defRPr sz="1000" b="0">
                <a:latin typeface="Calibri"/>
                <a:solidFill>
                  <a:srgbClr val="404040"/>
                </a:solidFill>
              </a:defRPr>
            </a:pPr>
          </a:p>
        </c:txPr>
        <c:majorUnit val="2"/>
        <c:majorGridlines>
          <c:spPr>
            <a:ln w="6350">
              <a:solidFill>
                <a:srgbClr val="D9D9D9"/>
              </a:solidFill>
            </a:ln>
          </c:spPr>
        </c:majorGridlines>
      </c:valAx>
      <c:spPr>
        <a:noFill/>
      </c:spPr>
    </c:plotArea>
    <c:legend>
      <c:legendPos val="tr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223BD"/>
                </a:solidFill>
                <a:latin typeface="Calibri"/>
              </a:rPr>
              <a:t>Cumulative Consultation Sessions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Total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  <c:spPr>
            <a:ln w="31750">
              <a:solidFill>
                <a:srgbClr val="3223BD"/>
              </a:solidFill>
              <a:round/>
            </a:ln>
          </c:spPr>
          <c:marker>
            <c:symbol val="circle"/>
            <c:size val="6"/>
            <c:spPr>
              <a:solidFill>
                <a:srgbClr val="3223BD"/>
              </a:solidFill>
              <a:ln>
                <a:solidFill>
                  <a:srgbClr val="3223BD"/>
                </a:solidFill>
              </a:ln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000" b="0">
                <a:latin typeface="Calibri"/>
                <a:solidFill>
                  <a:srgbClr val="404040"/>
                </a:solidFill>
              </a:defRPr>
            </a:pPr>
          </a:p>
        </c:txPr>
      </c:catAx>
      <c:valAx>
        <c:axId val="2140495176"/>
        <c:scaling>
          <c:min val="0"/>
          <c:max val="80"/>
        </c:scaling>
        <c:delete val="0"/>
        <c:axPos val="l"/>
        <c:majorTickMark val="out"/>
        <c:minorTickMark val="none"/>
        <c:tickLblPos val="nextTo"/>
        <c:crossAx val="2118791784"/>
        <c:crosses val="autoZero"/>
        <c:txPr>
          <a:bodyPr/>
          <a:lstStyle/>
          <a:p>
            <a:pPr>
              <a:defRPr sz="1000" b="0">
                <a:latin typeface="Calibri"/>
                <a:solidFill>
                  <a:srgbClr val="404040"/>
                </a:solidFill>
              </a:defRPr>
            </a:pPr>
          </a:p>
        </c:txPr>
        <c:majorUnit val="20"/>
        <c:majorGridlines>
          <c:spPr>
            <a:ln w="6350">
              <a:solidFill>
                <a:srgbClr val="D9D9D9"/>
              </a:solidFill>
            </a:ln>
          </c:spPr>
        </c:majorGridlines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Total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  <a:ln w="6350"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dLbls>
          <c:showLegendKey val="0"/>
        </c:dLbls>
        <c:gapWidth val="150"/>
        <c:overlap val="0"/>
        <c:axId val="100"/>
        <c:axId val="101"/>
      </c:barChart>
      <c:lineChart>
        <c:grouping val="standar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31750">
              <a:solidFill>
                <a:srgbClr val="3223BD"/>
              </a:solidFill>
            </a:ln>
            <a:effectLst/>
          </c:spPr>
          <c:marker>
            <c:symbol val="circle"/>
            <c:size val="6"/>
            <c:spPr>
              <a:solidFill>
                <a:srgbClr val="3223BD"/>
              </a:solidFill>
              <a:ln>
                <a:solidFill>
                  <a:srgbClr val="3223B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</c:ser>
        <c:smooth val="0"/>
        <c:axId val="100"/>
        <c:axId val="102"/>
      </c:lineChart>
      <c:catAx>
        <c:axId val="100"/>
        <c:scaling>
          <c:orientation val="minMax"/>
        </c:scaling>
        <c:delete val="0"/>
        <c:axPos val="b"/>
        <c:txPr>
          <a:bodyPr rot="-2700000"/>
          <a:lstStyle/>
          <a:p>
            <a:r>
              <a:rPr lang="en-US" sz="800"/>
            </a:r>
          </a:p>
        </c:txPr>
        <c:crossAx val="101"/>
      </c:catAx>
      <c:valAx>
        <c:axId val="101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0E0E0"/>
              </a:solidFill>
            </a:ln>
          </c:spPr>
        </c:majorGridlines>
        <c:title>
          <c:layout/>
          <c:tx>
            <c:rich>
              <a:bodyPr/>
              <a:lstStyle/>
              <a:p>
                <a:r>
                  <a:rPr lang="en-US" sz="900"/>
                  <a:t>Weekly Sessions</a:t>
                </a:r>
              </a:p>
            </c:rich>
          </c:tx>
          <c:overlay val="0"/>
        </c:title>
        <c:numFmt formatCode="General"/>
        <c:numFmt sourceLinked="1"/>
        <c:majorTickMark val="out"/>
        <c:minorTickMark val="none"/>
        <c:crossAx val="100"/>
      </c:valAx>
      <c:valAx>
        <c:axId val="102"/>
        <c:scaling>
          <c:orientation val="minMax"/>
          <c:max val="80"/>
          <c:min val="0"/>
        </c:scaling>
        <c:delete val="0"/>
        <c:axPos val="r"/>
        <c:title>
          <c:layout/>
          <c:tx>
            <c:rich>
              <a:bodyPr/>
              <a:lstStyle/>
              <a:p>
                <a:r>
                  <a:rPr lang="en-US" sz="900"/>
                  <a:t>Cumulative Sessions</a:t>
                </a:r>
              </a:p>
            </c:rich>
          </c:tx>
          <c:overlay val="0"/>
        </c:title>
        <c:numFmt formatCode="General"/>
        <c:majorTickMark val="out"/>
        <c:minorTickMark val="none"/>
        <c:crossAx val="100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plotVisOnly val="1"/>
  </c:chart>
  <c:spPr>
    <a:solidFill>
      <a:srgbClr val="FFFFFF"/>
    </a:solidFill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71800"/>
            <a:ext cx="12188952" cy="73152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Rapid Innovation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60152" cy="502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9DCF8"/>
                </a:solidFill>
                <a:latin typeface="Calibri"/>
              </a:rPr>
              <a:t>Leadership Briefing  |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Accelerating AI-Enabled Innovation Across Programs and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eSimplicity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RIC —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Since Launch — February through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120700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35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Total Initiatives Launched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120700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13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Initiatives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58099" y="120700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21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Active Initiatives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" y="294436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30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Requests Submitted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294436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19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Artifacts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8099" y="294436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74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Consultation 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" y="468172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4.7 / 5.0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Avg CSAT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468172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~3.5 Weeks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Avg Idea-to-Delivery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8099" y="4681728"/>
            <a:ext cx="3474720" cy="15727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320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Reusable AI Assets Published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Engagement Activity —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Feb 23 – May 15,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280160"/>
          <a:ext cx="11612880" cy="51206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2560320" cy="274320"/>
          </a:xfrm>
          <a:prstGeom prst="rect">
            <a:avLst/>
          </a:prstGeom>
          <a:solidFill>
            <a:srgbClr val="3223BD"/>
          </a:solidFill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74 Total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6492240"/>
            <a:ext cx="4114800" cy="274320"/>
          </a:xfrm>
          <a:prstGeom prst="rect">
            <a:avLst/>
          </a:prstGeom>
          <a:solidFill>
            <a:srgbClr val="D9DCF8"/>
          </a:solidFill>
        </p:spPr>
        <p:txBody>
          <a:bodyPr wrap="none">
            <a:spAutoFit/>
          </a:bodyPr>
          <a:lstStyle/>
          <a:p>
            <a:pPr algn="ctr"/>
            <a:r>
              <a:rPr b="0" sz="1000">
                <a:solidFill>
                  <a:srgbClr val="404040"/>
                </a:solidFill>
              </a:rPr>
              <a:t>25 BD/Growth  ·  49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Programs &amp; Agencies 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Spanning Health, Defense &amp; National Security, and Civilian 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3949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223BD"/>
                </a:solidFill>
                <a:latin typeface="Calibri"/>
              </a:rPr>
              <a:t>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T-MSIS (CMS)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QDAS (CMS)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9152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NMSC (National Defense)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61488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NHLBI (NIH)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63824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LPDS (Navy/Marine Corps)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IDR — Integrated Data Repository (CMS)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68496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CQP (CMS)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70832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SBA OIG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73168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● Health BU / PMR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115568"/>
            <a:ext cx="36576" cy="4526280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70432"/>
            <a:ext cx="557784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223BD"/>
                </a:solidFill>
                <a:latin typeface="Calibri"/>
              </a:rPr>
              <a:t>Agencies &amp;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Centers for Medicare &amp; Medicaid Services (CMS)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56816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Defense Information Systems Agency (DISA)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59152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National Marine &amp; Space Command (NMSC)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61488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National Heart, Lung &amp; Blood Institute (NHLBI)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63824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Small Business Administration OIG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566160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State of New Mexico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968496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Navy Marine Corps (LPDS)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370832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Army (Aberdeen Proving Ground)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773168"/>
            <a:ext cx="557784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★ eSimplicity Corporate/Growth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053328"/>
            <a:ext cx="11640312" cy="5943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117336"/>
            <a:ext cx="11430000" cy="47548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programs supported  |  8 agencies/clients engaged  |  Health · Defense · Civilian · Corporate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Speed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Average idea-to-prototype cycle time: ~25 days (~3.5 weeks)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8823960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371600"/>
                <a:gridCol w="1508760"/>
                <a:gridCol w="1371600"/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Initiative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Created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LPDS AI Tools Consultation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2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CMS MESH AI Write-up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3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Aberdeen APBI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8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CMS MESH Salesforce/M365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15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QDAS DBX Apps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15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DBX Apps POC - Use Case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May 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14 days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SBA OIG AI 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30 days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Nextgen Sim Prima Marketing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&lt;1 day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DISA AES RFP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Feb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40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DBX Apps POC - Use Case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May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43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T-MSIS AI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Feb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45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NMSC Spectrum Analyst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Feb 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Apr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55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New Mexico RFP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Mar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53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371600"/>
            <a:ext cx="201168" cy="201168"/>
          </a:xfrm>
          <a:prstGeom prst="rect">
            <a:avLst/>
          </a:prstGeom>
          <a:solidFill>
            <a:srgbClr val="00B0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65208" y="134416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≤ 15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371600"/>
            <a:ext cx="201168" cy="201168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65208" y="134416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16–30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371600"/>
            <a:ext cx="201168" cy="201168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65208" y="134416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&gt; 30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371600"/>
            <a:ext cx="201168" cy="201168"/>
          </a:xfrm>
          <a:prstGeom prst="rect">
            <a:avLst/>
          </a:prstGeom>
          <a:solidFill>
            <a:srgbClr val="00B0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65208" y="1344168"/>
            <a:ext cx="237744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≤ 15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645920"/>
            <a:ext cx="201168" cy="201168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8" y="1618488"/>
            <a:ext cx="237744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16–30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920240"/>
            <a:ext cx="201168" cy="201168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1892808"/>
            <a:ext cx="237744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&gt;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97880"/>
            <a:ext cx="11640312" cy="658368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338560" cy="5943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  <a:latin typeface="Calibri"/>
              </a:rPr>
              <a:t>Note: Faster engagements are typically consultations and proposal artifacts. Longer engagements are full POC and prototype builds.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Program Innovation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AI delivering measurable impact on active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235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23560" cy="82296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71016"/>
            <a:ext cx="534924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T-MSIS — 100%+ Productivity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55064"/>
            <a:ext cx="5349240" cy="685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The RIC built an agentic workflow to automate test data generation for thousands of data validation rules — a process previously done manually by engineers.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Delivered in days, not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1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Adopted and stabilized collaboratively with the T-MSIS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90088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Demonstrated agentic AI applied to a real federal health 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355848"/>
            <a:ext cx="5367528" cy="868680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3355848"/>
            <a:ext cx="59436" cy="868680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10712"/>
            <a:ext cx="5202936" cy="685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>"The productivity improvement is at least 100%+! You are truly amazing partners. Keep up the great work!"
— Raymond Ling, T-MSIS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6035040"/>
            <a:ext cx="5367528" cy="347472"/>
          </a:xfrm>
          <a:prstGeom prst="rect">
            <a:avLst/>
          </a:prstGeom>
          <a:solidFill>
            <a:srgbClr val="E6FFE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062472"/>
            <a:ext cx="5184648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Calibri"/>
              </a:rPr>
              <a:t>✓ Completed | Impact: &gt;100% Productivity 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143000"/>
            <a:ext cx="56235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143000"/>
            <a:ext cx="5623560" cy="82296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271016"/>
            <a:ext cx="534924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NHLBI — Agent Ranker for App Modernization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655064"/>
            <a:ext cx="5349240" cy="89611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NHLBI needed to prioritize a portfolio of applications for modernization across their General Software Development Task Order. The RIC built an Agent Ranker that analyzes application profiles and produces AI-driven prioritization recommendations with justification.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606040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Replaced manual evaluation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916936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Supports ITAC decision-making at NHLBI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227832"/>
            <a:ext cx="5257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● Reusable framework applicable across programs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6035040"/>
            <a:ext cx="5367528" cy="347472"/>
          </a:xfrm>
          <a:prstGeom prst="rect">
            <a:avLst/>
          </a:prstGeom>
          <a:solidFill>
            <a:srgbClr val="F0F8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6062472"/>
            <a:ext cx="5184648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23BD"/>
                </a:solidFill>
                <a:latin typeface="Calibri"/>
              </a:rPr>
              <a:t>Program: NHLBI  |  Status: In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BD &amp; Proposal Support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11 growth-supporting initiatives — already exceeding the annual goal of 10+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650992" cy="731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71016"/>
            <a:ext cx="542239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DISA AES — Shaped the Evaluation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9344"/>
            <a:ext cx="5422392" cy="8229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Built a fully interactive antenna modeling prototype for the DISA AES proposal. DISA then explicitly added innovation as an RFP evaluation factor — making the prototype a direct scoring differentiator.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935223"/>
            <a:ext cx="5422392" cy="658368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79" y="2935223"/>
            <a:ext cx="54864" cy="6583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980943"/>
            <a:ext cx="5193792" cy="58521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The impact increased when the customer explicitly included innovation as an evaluation factor.  — Summer Watterson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704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5650992" cy="731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71016"/>
            <a:ext cx="542239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Army Aberdeen — First Army Impression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9344"/>
            <a:ext cx="5422392" cy="8229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Supported a live 2-hour demo at Aberdeen Proving Ground's Meet the Primes event — eSimplicity's first Army engagement at this venue. Keith McFarland traveled on-site to deliver.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35223"/>
            <a:ext cx="5422392" cy="658368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935223"/>
            <a:ext cx="54864" cy="6583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2980943"/>
            <a:ext cx="5193792" cy="58521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This engagement will play a key role in enabling new conversations with the Army.  — Don Chipley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22191"/>
            <a:ext cx="5650992" cy="731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922776"/>
            <a:ext cx="542239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CMS MESH — Two Gaps Closed Under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261104"/>
            <a:ext cx="5422392" cy="8229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Two proposal-critical gaps identified late in the MESH pursuit. The RIC closed both: AI narrative written in 3 days, Salesforce/M365 integration built in 15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79" y="5586983"/>
            <a:ext cx="5422392" cy="658368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79" y="5586983"/>
            <a:ext cx="54864" cy="6583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5632703"/>
            <a:ext cx="5193792" cy="58521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Quickly building POCs that allow us to claim experience where minor gaps exist.  — Rajesh Pandian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822191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22191"/>
            <a:ext cx="5650992" cy="731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22776"/>
            <a:ext cx="542239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New Mexico — State Government Downselect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61104"/>
            <a:ext cx="5422392" cy="8229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Built a full AI document management demo for NM's water rights system — OCR extraction, human-in-the-loop validation, structured data. First state government engagement.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586983"/>
            <a:ext cx="5422392" cy="658368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5586983"/>
            <a:ext cx="54864" cy="65836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7" y="5632703"/>
            <a:ext cx="5193792" cy="58521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It felt like a natural part of the deal lifecycle.  — Ian Lowrie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QDAS — Sustained Innovation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3 initiatives, 4 POCs, directly tied to QDAS recompete pWIN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651760" cy="3017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6128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Feb – Mar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65176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2468879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RIC-102 — DBX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11680"/>
            <a:ext cx="2468879" cy="23774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Evaluated Databricks LLM/AI capabilities. Delivered whitepaper and presentation on chatbot feasibility for QDAS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690872"/>
            <a:ext cx="2468879" cy="329184"/>
          </a:xfrm>
          <a:prstGeom prst="rect">
            <a:avLst/>
          </a:prstGeom>
          <a:solidFill>
            <a:srgbClr val="E6FFE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2395728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50"/>
                </a:solidFill>
                <a:latin typeface="Calibri"/>
              </a:rPr>
              <a:t>✓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3017520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23BD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143000"/>
            <a:ext cx="2651760" cy="3017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16128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65176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527048"/>
            <a:ext cx="2468879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DBX Apps — Use Cases 1 &amp;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011680"/>
            <a:ext cx="2468879" cy="23774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Proved initial Databricks Apps capability. Evaluated native AI interfaces for non-technical users.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4690872"/>
            <a:ext cx="2468879" cy="329184"/>
          </a:xfrm>
          <a:prstGeom prst="rect">
            <a:avLst/>
          </a:prstGeom>
          <a:solidFill>
            <a:srgbClr val="E6FFE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709160"/>
            <a:ext cx="2395728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50"/>
                </a:solidFill>
                <a:latin typeface="Calibri"/>
              </a:rPr>
              <a:t>✓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0176" y="3017520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23BD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2651760" cy="3017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16128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 – 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65176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527048"/>
            <a:ext cx="2468879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RIC-164 — Use Case 3 (Portal)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11680"/>
            <a:ext cx="2468879" cy="23774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Ran CCSQ Portal in Databricks Apps. Validated microservices architecture and Lakebase for persistent storage.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3368" y="4690872"/>
            <a:ext cx="2468879" cy="329184"/>
          </a:xfrm>
          <a:prstGeom prst="rect">
            <a:avLst/>
          </a:prstGeom>
          <a:solidFill>
            <a:srgbClr val="E6FFE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60"/>
            <a:ext cx="2395728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50"/>
                </a:solidFill>
                <a:latin typeface="Calibri"/>
              </a:rPr>
              <a:t>✓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017520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23BD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143000"/>
            <a:ext cx="2651760" cy="30175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16128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Apr – May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444752"/>
            <a:ext cx="265176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7" y="1527048"/>
            <a:ext cx="2468879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RIC-329 — Use Case 4 (App Deploy)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011680"/>
            <a:ext cx="2468879" cy="23774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Proved Automatic App Deployment for data consumers who can't use Databricks directly. Extends platform to wider audience.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5167" y="4690872"/>
            <a:ext cx="2468879" cy="329184"/>
          </a:xfrm>
          <a:prstGeom prst="rect">
            <a:avLst/>
          </a:prstGeom>
          <a:solidFill>
            <a:srgbClr val="E6FFE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4709160"/>
            <a:ext cx="2395728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50"/>
                </a:solidFill>
                <a:latin typeface="Calibri"/>
              </a:rPr>
              <a:t>✓ Done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897880"/>
            <a:ext cx="11640312" cy="73152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430000" cy="6583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Impact: Improving QDAS recompete pWIN  |  Databricks selected as RIC's preferred agentic platform  |  eSimplicity depth demonstrated across 4 proof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Customer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Average CSAT: 4.7 / 5.0 across 10 scored engagements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2560320" cy="132588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2560320" cy="132588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5200" b="1">
                <a:solidFill>
                  <a:srgbClr val="FFFFFF"/>
                </a:solidFill>
                <a:latin typeface="Calibri"/>
              </a:rPr>
              <a:t>4.7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out of 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61872"/>
            <a:ext cx="8961120" cy="502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23BD"/>
                </a:solidFill>
                <a:latin typeface="Calibri"/>
              </a:rPr>
              <a:t>10 scored engagements  |  Average Score: 4.7 / 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719072"/>
            <a:ext cx="896112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Calibri"/>
              </a:rPr>
              <a:t>Scores range from 4 to 5 — no scores below 4.0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2606040"/>
          <a:ext cx="94183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16459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Stakeholder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T-MSIS AI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Raymond 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DISA AES RFP Assistance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Summer Watterson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DBX Apps Use Cases 1&amp;2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John Fukuda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 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NMSC NTIA Redbook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Jon Lanenga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CMS MESH 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Alisha Hutson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CMS MESH AI Write-Up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Rajesh Pandian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Army APBI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Don Chipley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DBX Apps Use Case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Alisha Hutson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 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DBX Apps Use Cases 1&amp;2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Crissy Paleczka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★★★★★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New Mexico RFP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Ian Lowrie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★★★★ 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921240" y="2606040"/>
            <a:ext cx="1993392" cy="914400"/>
          </a:xfrm>
          <a:prstGeom prst="rect">
            <a:avLst/>
          </a:prstGeom>
          <a:solidFill>
            <a:srgbClr val="00B0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2679192"/>
            <a:ext cx="1874519" cy="7772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 additional
engagements
have responses
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RIC Platform — Prima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320 reusable AI assets available at delivery.alvisprima.com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88720"/>
            <a:ext cx="3566160" cy="132588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88720"/>
            <a:ext cx="3566160" cy="13258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108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04" y="1188720"/>
            <a:ext cx="3566160" cy="132588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1104" y="1188720"/>
            <a:ext cx="3566160" cy="13258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140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1188720"/>
            <a:ext cx="3566160" cy="1325880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188720"/>
            <a:ext cx="3566160" cy="13258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72 Plugins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1274552" cy="5943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Prima Delivery is eSimplicity's open AI asset library — a catalog of production-ready agents, modular skills, and workflow plugins that teams can deploy without starting from scratch.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93008"/>
            <a:ext cx="11274552" cy="502920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11064240" cy="42062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●  Compatible with OpenCode, Claude Code, Copilot, Cursor, Windsurf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87368"/>
            <a:ext cx="11274552" cy="502920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23944"/>
            <a:ext cx="11064240" cy="42062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●  Organized by domain: Development, Security, Data &amp; AI, Infrastructure,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18304"/>
            <a:ext cx="11064240" cy="42062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●  Each asset is tested, versioned, and ready to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70448"/>
            <a:ext cx="11640312" cy="713232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925312"/>
            <a:ext cx="11430000" cy="62179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4x the target of 75 reusable assets  |  Available to all programs and BD teams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Looking Ahead — Active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31752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DCF8"/>
                </a:solidFill>
                <a:latin typeface="Calibri"/>
              </a:rPr>
              <a:t>Key initiatives in flight for H2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650992" cy="82296"/>
          </a:xfrm>
          <a:prstGeom prst="rect">
            <a:avLst/>
          </a:prstGeom>
          <a:solidFill>
            <a:srgbClr val="C000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36592" y="1280160"/>
            <a:ext cx="1051560" cy="256032"/>
          </a:xfrm>
          <a:prstGeom prst="rect">
            <a:avLst/>
          </a:prstGeom>
          <a:solidFill>
            <a:srgbClr val="C000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289304"/>
            <a:ext cx="1024128" cy="21945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289304"/>
            <a:ext cx="4233672" cy="32918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SHINE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20"/>
            <a:ext cx="5422392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Chat-based AI interface for enterprise knowledge discovery. MVP in development with CI/CD established and BDD tests complete. 6-milestone roadmap through Q3 launch.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236975"/>
            <a:ext cx="5422392" cy="347472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264407"/>
            <a:ext cx="53035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900"/>
                </a:solidFill>
                <a:latin typeface="Calibri"/>
              </a:rPr>
              <a:t>● Milestone 1 In Progress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5650992" cy="82296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25911" y="1280160"/>
            <a:ext cx="1051560" cy="256032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1289304"/>
            <a:ext cx="1024128" cy="21945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9304"/>
            <a:ext cx="4233672" cy="32918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Apex Agent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5422392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Packaging and deploying proposal agents to T-MSIS and CIO Growth programs. Agents in QA for deployment. Quick Start Guide in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36975"/>
            <a:ext cx="5422392" cy="347472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264407"/>
            <a:ext cx="53035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900"/>
                </a:solidFill>
                <a:latin typeface="Calibri"/>
              </a:rPr>
              <a:t>● Deployment Support Underway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650992" cy="82296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36592" y="3950208"/>
            <a:ext cx="1051560" cy="256032"/>
          </a:xfrm>
          <a:prstGeom prst="rect">
            <a:avLst/>
          </a:prstGeom>
          <a:solidFill>
            <a:srgbClr val="FF9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3959352"/>
            <a:ext cx="1024128" cy="21945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59352"/>
            <a:ext cx="4233672" cy="32918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IDR Research POC / White Paper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315968"/>
            <a:ext cx="5422392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Early capture effort for CMS IDR — impact score 10. White paper and POC demonstrating Snowflake/Databricks integration for IDR modernization. Currently in leadership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79" y="5907024"/>
            <a:ext cx="5422392" cy="347472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934456"/>
            <a:ext cx="53035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Calibri"/>
              </a:rPr>
              <a:t>● In Review — Blocker Priority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40480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40480"/>
            <a:ext cx="5650992" cy="82296"/>
          </a:xfrm>
          <a:prstGeom prst="rect">
            <a:avLst/>
          </a:prstGeom>
          <a:solidFill>
            <a:srgbClr val="FFC8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25911" y="3950208"/>
            <a:ext cx="1051560" cy="256032"/>
          </a:xfrm>
          <a:prstGeom prst="rect">
            <a:avLst/>
          </a:prstGeom>
          <a:solidFill>
            <a:srgbClr val="FFC8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3959352"/>
            <a:ext cx="1024128" cy="21945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59352"/>
            <a:ext cx="4233672" cy="32918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Growth Opportunities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15968"/>
            <a:ext cx="5422392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Agentic workflow for the Growth team to qualify 20–100 daily BD postings automatically. Assigns fit ratings, streamlines opportunity assessment.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07024"/>
            <a:ext cx="5422392" cy="347472"/>
          </a:xfrm>
          <a:prstGeom prst="rect">
            <a:avLst/>
          </a:prstGeom>
          <a:solidFill>
            <a:srgbClr val="F2F2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5934456"/>
            <a:ext cx="53035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223BD"/>
                </a:solidFill>
                <a:latin typeface="Calibri"/>
              </a:rPr>
              <a:t>● 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304288"/>
            <a:ext cx="9445752" cy="64008"/>
          </a:xfrm>
          <a:prstGeom prst="rect">
            <a:avLst/>
          </a:prstGeom>
          <a:solidFill>
            <a:srgbClr val="D9DCF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4297680"/>
            <a:ext cx="9445752" cy="64008"/>
          </a:xfrm>
          <a:prstGeom prst="rect">
            <a:avLst/>
          </a:prstGeom>
          <a:solidFill>
            <a:srgbClr val="3223B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60152" cy="8229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RIC is delivering.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360152" cy="502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9DCF8"/>
                </a:solidFill>
                <a:latin typeface="Calibri"/>
              </a:rPr>
              <a:t>Fast, measurable, mission-aligned.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360152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35 initiatives.  13 completed.  4.7 CSAT.  3.5 week avg delivery.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360152" cy="502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36208"/>
            <a:ext cx="10360152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eSimplicity Rapid Innovation Center  |  May 2026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Partner Program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DCF8"/>
                </a:solidFill>
                <a:latin typeface="Calibri"/>
              </a:rPr>
              <a:t>AWS · Databricks · Salesforce · Snowflake |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RIC PM Reports | eSimplicity | May 13,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88720"/>
            <a:ext cx="548640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463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Amazon Web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755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Select → Premier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93392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Active partner — Select tier achieved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Goal: Premier tier by end of 2026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Req: 20 accredited individuals, 25 technical certs,
   3 competencies, 50 launched opportunities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Next step: Partner Business Plan &amp; Executive Review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TPP driving cert completions — 100% complete on
   Associate, Pro &amp; Specialty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18872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188720"/>
            <a:ext cx="5486400" cy="228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Bronze →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993392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Active partner — Bronze tier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Goal: Gold tier by end of 2026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Req: Silver tier baseline + Data Engineer &amp; ML certs
   + Brickbuilder specialization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Partnership Day planned: July 8, 2026 at eSimplicity HQ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TPP driving cert completions — 89% on
   Associate &amp; Pro certs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0332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03320"/>
            <a:ext cx="5486400" cy="22860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97763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Salesforce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2702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Select → Summit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507992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Active partner — Select tier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Goal: Summit tier (long-term)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Req: Admin certs, Platform Dev I/II, Consultant certs,
   verified customer outcomes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Salesforce/M365 integration delivered for CMS MESH
   proposal (May 2026)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Cert pursuit and co-sell engagement underway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370332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703320"/>
            <a:ext cx="5486400" cy="228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7763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Snowflake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702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Registered →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507992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Registered partner — working toward Select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Goal: Select tier by end of 2026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Req: Partner onboarding, SnowPro Core certs,
   customer engagement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IDR white paper in progress leverages
   Snowflake capabilities</a:t>
            </a:r>
          </a:p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● Future TPP program being planned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Partner Program (TPP) — Incentives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DCF8"/>
                </a:solidFill>
                <a:latin typeface="Calibri"/>
              </a:rPr>
              <a:t>Time-boxed certification initiative · Counts toward partner tier advancement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RIC PM Reports | eSimplicity | May 13,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5669280" cy="512064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32588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What is TPP?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19072"/>
            <a:ext cx="539496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The Technical Partner Program incentivizes eSimplicity employees to earn certifications that directly advance our partner tiers — helping us unlock co-sell opportunities, preferred pricing, and competitive differentiation.</a:t>
            </a:r>
          </a:p>
          <a:p>
            <a:pPr algn="l"/>
            <a:r>
              <a:rPr sz="600" b="0" i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Time-boxed program with clear milestones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Certifications count toward next partner tier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Started with Databricks and AWS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Positive employee response — people are actively pursuing certs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Kyle meeting with partners and getting everyone up to speed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Planning Databricks Partnership Day — July 8, 2026 at eSimplicity HQ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✓ Future expansion: Snowflake and other partners being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25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Cert Completion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55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AWS — Associate, Pro &amp; Specialty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9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139696"/>
            <a:ext cx="566928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139696"/>
            <a:ext cx="566928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4323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7977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Databricks — Associate &amp; Pro Certs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277977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223BD"/>
                </a:solidFill>
                <a:latin typeface="Calibri"/>
              </a:rPr>
              <a:t>89%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163823"/>
            <a:ext cx="566928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163823"/>
            <a:ext cx="5045659" cy="2286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4564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23BD"/>
                </a:solidFill>
                <a:latin typeface="Calibri"/>
              </a:rPr>
              <a:t>●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80390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Databricks — Sales Badges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380390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  <a:latin typeface="Calibri"/>
              </a:rPr>
              <a:t>23%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187951"/>
            <a:ext cx="566928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4187951"/>
            <a:ext cx="1303934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480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● EARLY STAGE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919471"/>
            <a:ext cx="5669280" cy="128016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056631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Databricks Partnership Day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July 8, 2026 · eSimplicity HQ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9DCF8"/>
                </a:solidFill>
                <a:latin typeface="Calibri"/>
              </a:rPr>
              <a:t>Build relationships · Discuss pipelines · Accelerate tier advancement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291071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  <a:latin typeface="Calibri"/>
              </a:rPr>
              <a:t>Future TPP expansion: Snowflake, Salesforce, and other partners under consideration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