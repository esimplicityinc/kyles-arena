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3333600" cy="74938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pPr>
            <a:solidFill>
              <a:srgbClr val="3223BD"/>
            </a:solidFill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  <c:spPr>
            <a:solidFill>
              <a:srgbClr val="228B57"/>
            </a:solidFill>
          </c:spPr>
        </c:ser>
        <c:axId val="10"/>
        <c:axId val="20"/>
      </c:barChart>
      <c:catAx>
        <c:axId val="10"/>
        <c:scaling>
          <c:orientation val="minMax"/>
        </c:scaling>
        <c:delete val="0"/>
        <c:axPos val="b"/>
        <c:majorTickMark val="out"/>
        <c:minorTickMark val="none"/>
        <c:tickLblPos val="nextTo"/>
        <c:crossAx val="20"/>
        <c:crosses val="autoZero"/>
        <c:auto val="1"/>
        <c:lblAlgn val="ctr"/>
        <c:lblOffset val="100"/>
        <c:noMultiLvlLbl val="0"/>
      </c:catAx>
      <c:valAx>
        <c:axId val="20"/>
        <c:scaling/>
        <c:delete val="0"/>
        <c:axPos val="l"/>
        <c:majorGridlines/>
        <c:majorTickMark val="out"/>
        <c:minorTickMark val="none"/>
        <c:tickLblPos val="nextTo"/>
        <c:crossAx val="10"/>
        <c:crosses val="autoZero"/>
      </c:valAx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Sessions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pPr>
            <a:ln w="25400">
              <a:solidFill>
                <a:srgbClr val="FA8200"/>
              </a:solidFill>
            </a:ln>
          </c:spPr>
          <c:marker>
            <c:symbol val="circle"/>
            <c:size val="6"/>
          </c:marker>
        </c:ser>
        <c:axId val="30"/>
        <c:axId val="40"/>
      </c:lineChart>
      <c:catAx>
        <c:axId val="30"/>
        <c:scaling>
          <c:orientation val="minMax"/>
        </c:scaling>
        <c:delete val="1"/>
        <c:axPos val="b"/>
        <c:crossAx val="40"/>
      </c:catAx>
      <c:valAx>
        <c:axId val="40"/>
        <c:scaling>
          <c:orientation val="minMax"/>
        </c:scaling>
        <c:delete val="0"/>
        <c:axPos val="r"/>
        <c:numFmt formatCode="General" sourceLinked="1"/>
        <c:tickLblPos val="nextTo"/>
        <c:crossAx val="3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74938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5486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Rapid Innovation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Leadership Briefing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4B4B4"/>
                </a:solidFill>
                <a:latin typeface="Calibri"/>
              </a:rPr>
              <a:t>Accelerating AI-Enabled Innovation Across Programs and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000"/>
            <a:ext cx="11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69696"/>
                </a:solidFill>
                <a:latin typeface="Calibri"/>
              </a:rPr>
              <a:t>eSimplicity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RIC —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Since Launch — February through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320" y="12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320" y="20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Total Initiatives Launched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8000" y="12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8000" y="12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8000" y="20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Initiatives 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1680" y="12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1680" y="12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1680" y="20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Active Initiatives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320" y="29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320" y="37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Requests Submitted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8000" y="29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8000" y="29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8000" y="37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Artifacts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1680" y="29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1680" y="29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1680" y="37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Consultation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320" y="46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4.7 / 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320" y="54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Avg CSAT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8000" y="46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8000" y="46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~20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8000" y="54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Avg Idea-to-Delivery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1680" y="4600000"/>
            <a:ext cx="3700000" cy="150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1680" y="468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223BD"/>
                </a:solidFill>
                <a:latin typeface="Calibri"/>
              </a:rPr>
              <a:t>320+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1680" y="54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  <a:latin typeface="Calibri"/>
              </a:rPr>
              <a:t>Reusable AI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Engagement Activity — Weekly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Feb 23 – May 15, 2026 | 74 total sessions | 19 artifacts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200000"/>
          <a:ext cx="11612880" cy="54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Wins This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Program delivery wins and BD/Growth wins —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00000"/>
          <a:ext cx="570000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280000"/>
              </a:tblGrid>
              <a:tr h="650000">
                <a:tc gridSpan="2"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🏆 Program Wins</a:t>
                      </a:r>
                    </a:p>
                  </a:txBody>
                  <a:tcPr>
                    <a:solidFill>
                      <a:srgbClr val="3223BD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SHINE MVP — Milestone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Delivered portal foundation; Milestone 2 underway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Apex MVP Delivery</a:t>
                      </a:r>
                    </a:p>
                  </a:txBody>
                  <a:tcPr>
                    <a:solidFill>
                      <a:srgbClr val="F8F8FC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Proposal tooling in active development</a:t>
                      </a:r>
                    </a:p>
                  </a:txBody>
                  <a:tcPr>
                    <a:solidFill>
                      <a:srgbClr val="F8F8FC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HBU PMR PowerApps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UAT testing phase — close to sign-off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NHLBI Use Case Research</a:t>
                      </a:r>
                    </a:p>
                  </a:txBody>
                  <a:tcPr>
                    <a:solidFill>
                      <a:srgbClr val="F8F8FC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Use cases scoped; delivery in progress</a:t>
                      </a:r>
                    </a:p>
                  </a:txBody>
                  <a:tcPr>
                    <a:solidFill>
                      <a:srgbClr val="F8F8FC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Prima Delivery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Agentic delivery framework live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Support Apex Proposal</a:t>
                      </a:r>
                    </a:p>
                  </a:txBody>
                  <a:tcPr>
                    <a:solidFill>
                      <a:srgbClr val="F8F8FC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CIO Growth package in motion</a:t>
                      </a:r>
                    </a:p>
                  </a:txBody>
                  <a:tcPr>
                    <a:solidFill>
                      <a:srgbClr val="F8F8FC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Agent Orchestration Platform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Platform infrastructure progressing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200000"/>
          <a:ext cx="570000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280000"/>
              </a:tblGrid>
              <a:tr h="650000">
                <a:tc gridSpan="2"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🚀 BD/Growth Wins</a:t>
                      </a:r>
                    </a:p>
                  </a:txBody>
                  <a:tcPr>
                    <a:solidFill>
                      <a:srgbClr val="228B57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Databricks Partnership Day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July 8 event confirmed; planning in progress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Databricks Partnership Tier</a:t>
                      </a:r>
                    </a:p>
                  </a:txBody>
                  <a:tcPr>
                    <a:solidFill>
                      <a:srgbClr val="F8FCF8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Bronze → Gold advancement underway</a:t>
                      </a:r>
                    </a:p>
                  </a:txBody>
                  <a:tcPr>
                    <a:solidFill>
                      <a:srgbClr val="F8FCF8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AWS Partnership Tier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Premier tier advancement initiated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New Mexico RFP Demo</a:t>
                      </a:r>
                    </a:p>
                  </a:txBody>
                  <a:tcPr>
                    <a:solidFill>
                      <a:srgbClr val="F8FCF8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1C1C1C"/>
                          </a:solidFill>
                          <a:latin typeface="Calibri"/>
                        </a:rPr>
                        <a:t>✅ Demo delivered — May 12</a:t>
                      </a:r>
                    </a:p>
                  </a:txBody>
                  <a:tcPr>
                    <a:solidFill>
                      <a:srgbClr val="F8FCF8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OpenCode in Databricks Demo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1C1C1C"/>
                          </a:solidFill>
                          <a:latin typeface="Calibri"/>
                        </a:rPr>
                        <a:t>✅ Demo delivered — May 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Ranking Agent Discovery</a:t>
                      </a:r>
                    </a:p>
                  </a:txBody>
                  <a:tcPr>
                    <a:solidFill>
                      <a:srgbClr val="F8FCF8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1C1C1C"/>
                          </a:solidFill>
                          <a:latin typeface="Calibri"/>
                        </a:rPr>
                        <a:t>✅ Discovery complete — May 12</a:t>
                      </a:r>
                    </a:p>
                  </a:txBody>
                  <a:tcPr>
                    <a:solidFill>
                      <a:srgbClr val="F8FCF8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SHINE Discovery/Planning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1C1C1C"/>
                          </a:solidFill>
                          <a:latin typeface="Calibri"/>
                        </a:rPr>
                        <a:t>✅ Planning complete — May 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Programs &amp; Agencies 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Health · Defense &amp; National Security · Civilian verticals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50000"/>
            <a:ext cx="5500000" cy="38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0000"/>
            <a:ext cx="54085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Programs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1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T-MSIS (CMS)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9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QDAS (CMS)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NMSC — National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5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NHLBI (NIH)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3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LPDS (Navy / Marine Corps)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1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IDR — Integrated Data Repository (CMS)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9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CQP (CMS)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7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SBA OIG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5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Health BU / PMR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3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SHINE Portal (HHS)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1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● Apex Proposal Tool (Growth)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00000" y="1150000"/>
            <a:ext cx="5500000" cy="38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1440" y="1210000"/>
            <a:ext cx="54085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Agencies &amp; Clients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1440" y="161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Centers for Medicare &amp; Medicaid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1440" y="199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Defense Information Systems Agency (DISA)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440" y="237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Natl Marine &amp; Space Command (NMSC)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1440" y="275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Natl Heart, Lung &amp; Blood Institute (NHLBI)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1440" y="313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Small Business Administration OIG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440" y="351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State of New Mexico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1440" y="389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Navy Marine Corps (LPDS)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1440" y="427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Army (Aberdeen Proving Ground)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1440" y="465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eSimplicity Growth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1440" y="503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★ Databricks (Partnership)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00000"/>
            <a:ext cx="13333600" cy="3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260000"/>
            <a:ext cx="116128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11 programs supported  |  10 agencies engaged  |  Health · Defense · Civilian · Corporate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Speed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Average idea-to-delivery cycle time: ~20 days (~3 weeks) | Calculated from Discovery →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00000"/>
          <a:ext cx="11612880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/>
                <a:gridCol w="1500000"/>
                <a:gridCol w="2500000"/>
                <a:gridCol w="2412880"/>
              </a:tblGrid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Initiative</a:t>
                      </a:r>
                    </a:p>
                  </a:txBody>
                  <a:tcPr>
                    <a:solidFill>
                      <a:srgbClr val="3223BD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3223BD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Days (In Progress→Done)</a:t>
                      </a:r>
                    </a:p>
                  </a:txBody>
                  <a:tcPr>
                    <a:solidFill>
                      <a:srgbClr val="3223BD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3223BD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Nextgen Sim - Prima Marketing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Mar 27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&lt;1 day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LPDS AI Tools Consultation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Mar 11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2 days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8B57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CMS MESH AI Write-up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Apr 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7 days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Aberdeen APBI Demo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Apr 10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11 days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CMS MESH Salesforce/M365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Apr 17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11 days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Research POC - TMS w/ Snowflake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6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9 days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SHINE Discovery/Planning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23 days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8B57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SBA OIG Use Case Discovery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Apr 24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18 days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DBX Apps POC - Use Case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38 days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SHINE MVP - Milestone 1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13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16 days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8B57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Databricks Account Management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6 days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7850A0"/>
                          </a:solidFill>
                          <a:latin typeface="Calibri"/>
                        </a:rPr>
                        <a:t>Corporate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New Mexico RFP Demo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12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36 days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  <a:tr h="3428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OpenCode in Databricks Demo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May 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C1C1C"/>
                          </a:solidFill>
                          <a:latin typeface="Calibri"/>
                        </a:rPr>
                        <a:t>18 days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223BD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100000"/>
            <a:ext cx="11612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878"/>
                </a:solidFill>
                <a:latin typeface="Calibri"/>
              </a:rPr>
              <a:t>* Avg Idea-to-Delivery calculated from first In Progress transition to Done — based on Jira changelog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SHINE — Strategic Enterprise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front door to everything eSimplicity knows | Q3 2026 launch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3333600" cy="548640"/>
          </a:xfrm>
          <a:prstGeom prst="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30000"/>
            <a:ext cx="12785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223BD"/>
                </a:solidFill>
                <a:latin typeface="Calibri"/>
              </a:rPr>
              <a:t>“eSimplicity’s best work is never buried. The knowledge, tools, and proven approaches built over years of mission-critical delivery — accessible to everyone who needs them.”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50000"/>
            <a:ext cx="5800000" cy="52000"/>
          </a:xfrm>
          <a:prstGeom prst="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50000"/>
            <a:ext cx="5800000" cy="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45000"/>
            <a:ext cx="140000" cy="140000"/>
          </a:xfrm>
          <a:prstGeom prst="rect">
            <a:avLst/>
          </a:prstGeom>
          <a:solidFill>
            <a:srgbClr val="FA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320" y="1720000"/>
            <a:ext cx="5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  <a:latin typeface="Calibri"/>
              </a:rPr>
              <a:t>The same solutions rebuilt. The same mistakes repeated.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65000"/>
            <a:ext cx="140000" cy="140000"/>
          </a:xfrm>
          <a:prstGeom prst="rect">
            <a:avLst/>
          </a:prstGeom>
          <a:solidFill>
            <a:srgbClr val="FA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320" y="2040000"/>
            <a:ext cx="5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  <a:latin typeface="Calibri"/>
              </a:rPr>
              <a:t>Institutional knowledge walks out the door every time someone leaves.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85000"/>
            <a:ext cx="140000" cy="140000"/>
          </a:xfrm>
          <a:prstGeom prst="rect">
            <a:avLst/>
          </a:prstGeom>
          <a:solidFill>
            <a:srgbClr val="FA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320" y="2360000"/>
            <a:ext cx="5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  <a:latin typeface="Calibri"/>
              </a:rPr>
              <a:t>Proposal teams start every pursuit from a blank page.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60000"/>
            <a:ext cx="5800000" cy="52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60000"/>
            <a:ext cx="5800000" cy="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0000"/>
            <a:ext cx="340000" cy="34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830000"/>
            <a:ext cx="34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20" y="283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Find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20" y="301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Search across GitHub, Jira, SharePoint, Confluence, and Proposal Central simultaneously.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50000"/>
            <a:ext cx="340000" cy="34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250000"/>
            <a:ext cx="34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20" y="325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Surface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20" y="343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Not links — the actual content, ranked by relevance, attributed to its source, in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70000"/>
            <a:ext cx="340000" cy="34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670000"/>
            <a:ext cx="34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320" y="367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Act on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320" y="385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AI agents draft past performances, respond to RFP sections, review compliance. Human stays in the loop.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0000"/>
            <a:ext cx="5800000" cy="38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200000"/>
            <a:ext cx="5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“SHINE stops eSimplicity from losing to itself.”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4320" y="1650000"/>
            <a:ext cx="6585280" cy="52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4320" y="1650000"/>
            <a:ext cx="6585280" cy="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WHO IT SERVES — 8 USER TYPES · 52 USER STORIES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4320" y="1720000"/>
            <a:ext cx="6585280" cy="620000"/>
          </a:xfrm>
          <a:prstGeom prst="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4320" y="1740000"/>
            <a:ext cx="63452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23BD"/>
                </a:solidFill>
                <a:latin typeface="Calibri"/>
              </a:rPr>
              <a:t>COMPETITIVE VELOCITY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4320" y="1920000"/>
            <a:ext cx="63452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Win more, faster.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4320" y="2080000"/>
            <a:ext cx="63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Capture managers. Proposal writers. RFP drops → first draft in 30 minutes, not 3 days.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74320" y="2380000"/>
            <a:ext cx="6585280" cy="6200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4320" y="2400000"/>
            <a:ext cx="63452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8B57"/>
                </a:solidFill>
                <a:latin typeface="Calibri"/>
              </a:rPr>
              <a:t>SPEED TO INFORMATION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4320" y="2580000"/>
            <a:ext cx="63452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Get answers, not links.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4320" y="2740000"/>
            <a:ext cx="63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Executives. Engineers. New hires. Ask a question in plain English. Get a sourced answer in seconds.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74320" y="3040000"/>
            <a:ext cx="6585280" cy="620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4320" y="3060000"/>
            <a:ext cx="63452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7800"/>
                </a:solidFill>
                <a:latin typeface="Calibri"/>
              </a:rPr>
              <a:t>INSTITUTIONAL MEMORY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4320" y="3240000"/>
            <a:ext cx="63452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Stop losing to ourselves.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94320" y="3400000"/>
            <a:ext cx="63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Knowledge curators. Program leads. Every lesson learned stays learned. Every IP asset compounds.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74320" y="3700000"/>
            <a:ext cx="6585280" cy="52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4320" y="3700000"/>
            <a:ext cx="6585280" cy="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GOLD STANDARD 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74320" y="3770000"/>
            <a:ext cx="2100000" cy="50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4320" y="3770000"/>
            <a:ext cx="2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3C00"/>
                </a:solidFill>
                <a:latin typeface="Calibri"/>
              </a:rPr>
              <a:t>🥇 GOLD</a:t>
            </a:r>
          </a:p>
          <a:p>
            <a:pPr algn="ctr"/>
            <a:r>
              <a:rPr sz="900" b="0" i="1">
                <a:solidFill>
                  <a:srgbClr val="503C00"/>
                </a:solidFill>
                <a:latin typeface="Calibri"/>
              </a:rPr>
              <a:t>Human-validated. Surfaced first. Always.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74320" y="3770000"/>
            <a:ext cx="2100000" cy="5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74320" y="3770000"/>
            <a:ext cx="2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5050"/>
                </a:solidFill>
                <a:latin typeface="Calibri"/>
              </a:rPr>
              <a:t>🥈 SILVER</a:t>
            </a:r>
          </a:p>
          <a:p>
            <a:pPr algn="ctr"/>
            <a:r>
              <a:rPr sz="900" b="0" i="1">
                <a:solidFill>
                  <a:srgbClr val="505050"/>
                </a:solidFill>
                <a:latin typeface="Calibri"/>
              </a:rPr>
              <a:t>Strong. Partially validated. Good fallback.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74320" y="3770000"/>
            <a:ext cx="2185280" cy="5000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74320" y="3770000"/>
            <a:ext cx="21852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🥉 BRONZE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Raw source content. Needs review.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4320" y="4330000"/>
            <a:ext cx="658528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6464"/>
                </a:solidFill>
                <a:latin typeface="Calibri"/>
              </a:rPr>
              <a:t>The more SHINE is used, the more content gets validated. More gold = better answers. The platform compounds with every interaction.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4900000"/>
            <a:ext cx="13333600" cy="46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930000"/>
            <a:ext cx="12785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SIMPLY BETTER HUB FOR INNOVATION &amp; IP ENABLEMENT  ·  3 value layers  ·  8 user types  ·  52 user stories  ·  Wave 1–3 AI agents  ·  Q3 2026 pilot  ·  Built to sell to 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3600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Emerging Technology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Copado · Orbital — Building the next layer of eSimplicity’s partner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74320" y="1100000"/>
            <a:ext cx="60000" cy="5800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50000"/>
            <a:ext cx="6100000" cy="580000"/>
          </a:xfrm>
          <a:prstGeom prst="rect">
            <a:avLst/>
          </a:prstGeom>
          <a:solidFill>
            <a:srgbClr val="6B4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50000"/>
            <a:ext cx="610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Copado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0000"/>
            <a:ext cx="6100000" cy="320000"/>
          </a:xfrm>
          <a:prstGeom prst="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0000"/>
            <a:ext cx="6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4FBB"/>
                </a:solidFill>
                <a:latin typeface="Calibri"/>
              </a:rPr>
              <a:t>The #1 DevOps platform for Salesforce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60000"/>
            <a:ext cx="6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4FBB"/>
                </a:solidFill>
                <a:latin typeface="Calibri"/>
              </a:rPr>
              <a:t>WHAT THEY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85000"/>
            <a:ext cx="120000" cy="120000"/>
          </a:xfrm>
          <a:prstGeom prst="rect">
            <a:avLst/>
          </a:prstGeom>
          <a:solidFill>
            <a:srgbClr val="6B4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320" y="2360000"/>
            <a:ext cx="5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CI/CD pipelines and release automation for Salesforce orgs — no more manual deployments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25000"/>
            <a:ext cx="120000" cy="120000"/>
          </a:xfrm>
          <a:prstGeom prst="rect">
            <a:avLst/>
          </a:prstGeom>
          <a:solidFill>
            <a:srgbClr val="6B4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320" y="2600000"/>
            <a:ext cx="5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AI-powered DevOps intelligence — branch management, test recommendations, release forecasting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65000"/>
            <a:ext cx="120000" cy="120000"/>
          </a:xfrm>
          <a:prstGeom prst="rect">
            <a:avLst/>
          </a:prstGeom>
          <a:solidFill>
            <a:srgbClr val="6B4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320" y="2840000"/>
            <a:ext cx="5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GovCloud offering — FedRAMP-aligned Salesforce DevOps for federal agencies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120000"/>
            <a:ext cx="6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4FBB"/>
                </a:solidFill>
                <a:latin typeface="Calibri"/>
              </a:rPr>
              <a:t>WHY IT MATTERS FOR eSIM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45000"/>
            <a:ext cx="120000" cy="1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320" y="3320000"/>
            <a:ext cx="5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Salesforce partnership synergy — eSimplicity is advancing to Summit tier; Copado deploys and tests Salesforce at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05000"/>
            <a:ext cx="120000" cy="1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320" y="3580000"/>
            <a:ext cx="5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Federal clients on Salesforce Health Cloud, Public Sector Solutions, and Service Cloud need DevOps tooling — that’s Copado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65000"/>
            <a:ext cx="120000" cy="1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320" y="3840000"/>
            <a:ext cx="5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SI partnership = certifications, co-sell opportunities, and partner revenue on every Salesforce delivery engagement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80000"/>
            <a:ext cx="2200000" cy="320000"/>
          </a:xfrm>
          <a:prstGeom prst="rect">
            <a:avLst/>
          </a:prstGeom>
          <a:solidFill>
            <a:srgbClr val="FA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180000"/>
            <a:ext cx="2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46400"/>
                </a:solidFill>
                <a:latin typeface="Calibri"/>
              </a:rPr>
              <a:t>Status: Exploring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4320" y="4200000"/>
            <a:ext cx="3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6464"/>
                </a:solidFill>
                <a:latin typeface="Calibri"/>
              </a:rPr>
              <a:t>Research partnership requirements · Identify certification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4320" y="1150000"/>
            <a:ext cx="6225280" cy="580000"/>
          </a:xfrm>
          <a:prstGeom prst="rect">
            <a:avLst/>
          </a:prstGeom>
          <a:solidFill>
            <a:srgbClr val="0F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4320" y="1150000"/>
            <a:ext cx="622528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Orbital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34320" y="1780000"/>
            <a:ext cx="6225280" cy="320000"/>
          </a:xfrm>
          <a:prstGeom prst="rect">
            <a:avLst/>
          </a:prstGeom>
          <a:solidFill>
            <a:srgbClr val="DC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4320" y="1780000"/>
            <a:ext cx="62252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450"/>
                </a:solidFill>
                <a:latin typeface="Calibri"/>
              </a:rPr>
              <a:t>Automated integration for modern API architectures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4320" y="2160000"/>
            <a:ext cx="62252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450"/>
                </a:solidFill>
                <a:latin typeface="Calibri"/>
              </a:rPr>
              <a:t>WHAT THEY 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4320" y="2385000"/>
            <a:ext cx="120000" cy="120000"/>
          </a:xfrm>
          <a:prstGeom prst="rect">
            <a:avLst/>
          </a:prstGeom>
          <a:solidFill>
            <a:srgbClr val="0F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4320" y="2360000"/>
            <a:ext cx="60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Data gateway that auto-orchestrates APIs, databases, and event streams — no glue code, no YAML mapping files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34320" y="2625000"/>
            <a:ext cx="120000" cy="120000"/>
          </a:xfrm>
          <a:prstGeom prst="rect">
            <a:avLst/>
          </a:prstGeom>
          <a:solidFill>
            <a:srgbClr val="0F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4320" y="2600000"/>
            <a:ext cx="60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Semantic schema language (Taxi) lets services describe what data means — Orbital builds integrations on-the-fly as APIs evolve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34320" y="2865000"/>
            <a:ext cx="120000" cy="120000"/>
          </a:xfrm>
          <a:prstGeom prst="rect">
            <a:avLst/>
          </a:prstGeom>
          <a:solidFill>
            <a:srgbClr val="0F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4320" y="2840000"/>
            <a:ext cx="60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Self-healing integrations — when field names change or services are replaced, nothing breaks. Clients stay protected.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4320" y="3120000"/>
            <a:ext cx="62252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450"/>
                </a:solidFill>
                <a:latin typeface="Calibri"/>
              </a:rPr>
              <a:t>WHY IT MATTERS FOR eSIM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4320" y="3345000"/>
            <a:ext cx="120000" cy="1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14320" y="3320000"/>
            <a:ext cx="60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Federal microservice architectures are complex — T-MSIS, QDAS, HHS programs deal with brittle API integration constantly. Orbital solves this.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34320" y="3605000"/>
            <a:ext cx="120000" cy="1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4320" y="3580000"/>
            <a:ext cx="60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Prima Delivery + Orbital = instant data orchestration layer on any engagement — massive accelerator for delivery teams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4320" y="3865000"/>
            <a:ext cx="120000" cy="12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14320" y="3840000"/>
            <a:ext cx="60452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Fits the RIC innovation model: POC on one program, productize, sell the pattern across the portfolio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4320" y="4180000"/>
            <a:ext cx="2200000" cy="320000"/>
          </a:xfrm>
          <a:prstGeom prst="rect">
            <a:avLst/>
          </a:prstGeom>
          <a:solidFill>
            <a:srgbClr val="DC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4320" y="4180000"/>
            <a:ext cx="2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450"/>
                </a:solidFill>
                <a:latin typeface="Calibri"/>
              </a:rPr>
              <a:t>Status: Evaluating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4320" y="4200000"/>
            <a:ext cx="39252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6464"/>
                </a:solidFill>
                <a:latin typeface="Calibri"/>
              </a:rPr>
              <a:t>Run POC on active program · Assess FedRAMP posture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700000"/>
            <a:ext cx="13333600" cy="4600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730000"/>
            <a:ext cx="12785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Both partnerships support eSimplicity’s 2026 strategy  ·  Copado: Salesforce delivery acceleration  ·  Orbital: API integration modernization  ·  RIC leads discovery and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